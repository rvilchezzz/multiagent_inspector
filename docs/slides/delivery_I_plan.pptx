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IA025 final project. Course topic: multi-agent systems and agent orchestration, using pre-trained models as agents with validation of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visual inspection with a single reference. The numbers show the gap between models and humans. The hypothesis is measurable: we compare against the best single model and against voting with the same number of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expert is the core piece: MMAD itself showed that when someone points to where the defect is, the MLLM improves a lot. The readers come from different model families for diversity. The verifier is limited to one round to avoid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image's questions already come with a normal reference image. In the strict protocol we use a single reference and no extra domain text. Counts verified by us on the official mmad.json.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SiGMA uses hundreds of normal images and tunes its team on the benchmark answers, so it is not directly comparable. Our contribution is to measure how much of that gain survives with a single reference and no tuning on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525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525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525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525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8925C"/>
                </a:solidFill>
                <a:latin typeface="IBM Plex Sans" pitchFamily="34" charset="0"/>
                <a:ea typeface="IBM Plex Sans" pitchFamily="34" charset="-122"/>
                <a:cs typeface="IBM Plex Sans" pitchFamily="34" charset="-120"/>
              </a:rPr>
              <a:t>IA025 · DEEP LEARNING · UNICAMP 2026</a:t>
            </a:r>
            <a:endParaRPr lang="en-US" sz="1400" dirty="0"/>
          </a:p>
        </p:txBody>
      </p:sp>
      <p:sp>
        <p:nvSpPr>
          <p:cNvPr id="3" name="Text 1"/>
          <p:cNvSpPr/>
          <p:nvPr>
            <p:ph type="title"/>
          </p:nvPr>
        </p:nvSpPr>
        <p:spPr>
          <a:xfrm>
            <a:off x="812800" y="250317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F"/>
                </a:solidFill>
                <a:latin typeface="Source Serif 4" pitchFamily="18" charset="0"/>
                <a:ea typeface="Source Serif 4" pitchFamily="18" charset="-122"/>
                <a:cs typeface="Source Serif 4" pitchFamily="18" charset="-120"/>
              </a:rPr>
              <a:t>Multi-agent visual inspector</a:t>
            </a:r>
            <a:endParaRPr lang="en-US" sz="4800" dirty="0"/>
          </a:p>
        </p:txBody>
      </p:sp>
      <p:sp>
        <p:nvSpPr>
          <p:cNvPr id="4" name="Text 2"/>
          <p:cNvSpPr/>
          <p:nvPr/>
        </p:nvSpPr>
        <p:spPr>
          <a:xfrm>
            <a:off x="812800" y="3376930"/>
            <a:ext cx="91567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DD"/>
                </a:solidFill>
                <a:latin typeface="IBM Plex Sans" pitchFamily="34" charset="0"/>
                <a:ea typeface="IBM Plex Sans" pitchFamily="34" charset="-122"/>
                <a:cs typeface="IBM Plex Sans" pitchFamily="34" charset="-120"/>
              </a:rPr>
              <a:t>Orchestrating pre-trained models for industrial defect detection, validated on the MMAD benchmark</a:t>
            </a:r>
            <a:endParaRPr lang="en-US" sz="1800" dirty="0"/>
          </a:p>
        </p:txBody>
      </p:sp>
      <p:sp>
        <p:nvSpPr>
          <p:cNvPr id="5" name="Text 3"/>
          <p:cNvSpPr/>
          <p:nvPr/>
        </p:nvSpPr>
        <p:spPr>
          <a:xfrm>
            <a:off x="812800" y="54356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Team:</a:t>
            </a:r>
            <a:r>
              <a:rPr lang="en-US" sz="1600" dirty="0">
                <a:solidFill>
                  <a:srgbClr val="F6F4EF"/>
                </a:solidFill>
                <a:latin typeface="IBM Plex Sans" pitchFamily="34" charset="0"/>
                <a:ea typeface="IBM Plex Sans" pitchFamily="34" charset="-122"/>
                <a:cs typeface="IBM Plex Sans" pitchFamily="34" charset="-120"/>
              </a:rPr>
              <a:t> Peter Roque Vilchez · Charles Maxime Doudy</a:t>
            </a:r>
            <a:endParaRPr lang="en-US" sz="1600" dirty="0"/>
          </a:p>
        </p:txBody>
      </p:sp>
      <p:sp>
        <p:nvSpPr>
          <p:cNvPr id="6" name="Text 4"/>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D"/>
                </a:solidFill>
                <a:latin typeface="IBM Plex Sans" pitchFamily="34" charset="0"/>
                <a:ea typeface="IBM Plex Sans" pitchFamily="34" charset="-122"/>
                <a:cs typeface="IBM Plex Sans" pitchFamily="34" charset="-120"/>
              </a:rPr>
              <a:t>Delivery I · October 29,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PROJECT DESCRIPTION</a:t>
            </a:r>
            <a:endParaRPr lang="en-US" sz="1200" dirty="0"/>
          </a:p>
        </p:txBody>
      </p:sp>
      <p:sp>
        <p:nvSpPr>
          <p:cNvPr id="3" name="Text 1"/>
          <p:cNvSpPr/>
          <p:nvPr>
            <p:ph type="title"/>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Inspecting with a single reference photo</a:t>
            </a:r>
            <a:endParaRPr lang="en-US" sz="3200" dirty="0"/>
          </a:p>
        </p:txBody>
      </p:sp>
      <p:sp>
        <p:nvSpPr>
          <p:cNvPr id="4" name="Text 2"/>
          <p:cNvSpPr/>
          <p:nvPr/>
        </p:nvSpPr>
        <p:spPr>
          <a:xfrm>
            <a:off x="812800" y="1874520"/>
            <a:ext cx="6278880"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8"/>
                </a:solidFill>
                <a:latin typeface="IBM Plex Sans" pitchFamily="34" charset="0"/>
                <a:ea typeface="IBM Plex Sans" pitchFamily="34" charset="-122"/>
                <a:cs typeface="IBM Plex Sans" pitchFamily="34" charset="-120"/>
              </a:rPr>
              <a:t>When a production line switches products, there is neither time nor data to retrain a defect detector: there is only one photo of a good part. MLLMs (multimodal large language models) can inspect from text instructions, but they still fall short of human inspectors.</a:t>
            </a:r>
            <a:endParaRPr lang="en-US" sz="1400" dirty="0"/>
          </a:p>
        </p:txBody>
      </p:sp>
      <p:sp>
        <p:nvSpPr>
          <p:cNvPr id="5" name="Shape 3"/>
          <p:cNvSpPr/>
          <p:nvPr/>
        </p:nvSpPr>
        <p:spPr>
          <a:xfrm>
            <a:off x="812800" y="3108960"/>
            <a:ext cx="6096000" cy="1469390"/>
          </a:xfrm>
          <a:prstGeom prst="roundRect">
            <a:avLst>
              <a:gd name="adj" fmla="val 3457"/>
            </a:avLst>
          </a:prstGeom>
          <a:solidFill>
            <a:srgbClr val="EAE6DC"/>
          </a:solidFill>
          <a:ln/>
        </p:spPr>
      </p:sp>
      <p:sp>
        <p:nvSpPr>
          <p:cNvPr id="6" name="Shape 4"/>
          <p:cNvSpPr/>
          <p:nvPr/>
        </p:nvSpPr>
        <p:spPr>
          <a:xfrm>
            <a:off x="812800" y="3108960"/>
            <a:ext cx="6096000" cy="1469390"/>
          </a:xfrm>
          <a:custGeom>
            <a:avLst/>
            <a:gdLst/>
            <a:ahLst/>
            <a:cxnLst/>
            <a:rect l="l" t="t" r="r" b="b"/>
            <a:pathLst>
              <a:path w="6096000" h="1469390">
                <a:moveTo>
                  <a:pt x="50800" y="1469390"/>
                </a:moveTo>
                <a:lnTo>
                  <a:pt x="50800" y="1469390"/>
                </a:lnTo>
                <a:arcTo hR="50800" wR="50800" stAng="5400000" swAng="5400000"/>
                <a:lnTo>
                  <a:pt x="0" y="50800"/>
                </a:lnTo>
                <a:arcTo hR="50800" wR="50800" stAng="10800000" swAng="5400000"/>
                <a:lnTo>
                  <a:pt x="50800" y="0"/>
                </a:lnTo>
                <a:arcTo hR="50800" wR="12700" stAng="16200000" swAng="-5400000"/>
                <a:lnTo>
                  <a:pt x="38100" y="1418590"/>
                </a:lnTo>
                <a:arcTo hR="50800" wR="12700" stAng="10800000" swAng="-5400000"/>
                <a:close/>
              </a:path>
            </a:pathLst>
          </a:custGeom>
          <a:solidFill>
            <a:srgbClr val="B04A17"/>
          </a:solidFill>
          <a:ln/>
        </p:spPr>
      </p:sp>
      <p:sp>
        <p:nvSpPr>
          <p:cNvPr id="7" name="Text 5"/>
          <p:cNvSpPr/>
          <p:nvPr/>
        </p:nvSpPr>
        <p:spPr>
          <a:xfrm>
            <a:off x="1076325" y="3312160"/>
            <a:ext cx="577199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04A17"/>
                </a:solidFill>
                <a:latin typeface="IBM Plex Sans" pitchFamily="34" charset="0"/>
                <a:ea typeface="IBM Plex Sans" pitchFamily="34" charset="-122"/>
                <a:cs typeface="IBM Plex Sans" pitchFamily="34" charset="-120"/>
              </a:rPr>
              <a:t>Hypothesis</a:t>
            </a:r>
            <a:endParaRPr lang="en-US" sz="1400" dirty="0"/>
          </a:p>
        </p:txBody>
      </p:sp>
      <p:sp>
        <p:nvSpPr>
          <p:cNvPr id="8" name="Text 6"/>
          <p:cNvSpPr/>
          <p:nvPr/>
        </p:nvSpPr>
        <p:spPr>
          <a:xfrm>
            <a:off x="1076325" y="3601720"/>
            <a:ext cx="5771991"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5253A"/>
                </a:solidFill>
                <a:latin typeface="IBM Plex Sans" pitchFamily="34" charset="0"/>
                <a:ea typeface="IBM Plex Sans" pitchFamily="34" charset="-122"/>
                <a:cs typeface="IBM Plex Sans" pitchFamily="34" charset="-120"/>
              </a:rPr>
              <a:t>A training-free multi-agent system that combines a visual expert, two MLLM readers and a verifier beats the best single model and a majority vote with the same compute cost.</a:t>
            </a:r>
            <a:endParaRPr lang="en-US" sz="1400" dirty="0"/>
          </a:p>
        </p:txBody>
      </p:sp>
      <p:sp>
        <p:nvSpPr>
          <p:cNvPr id="9" name="Shape 7"/>
          <p:cNvSpPr/>
          <p:nvPr/>
        </p:nvSpPr>
        <p:spPr>
          <a:xfrm>
            <a:off x="7315200" y="3254375"/>
            <a:ext cx="4064000" cy="0"/>
          </a:xfrm>
          <a:prstGeom prst="line">
            <a:avLst/>
          </a:prstGeom>
          <a:noFill/>
          <a:ln w="6350">
            <a:solidFill>
              <a:srgbClr val="DDD6C8"/>
            </a:solidFill>
            <a:prstDash val="solid"/>
          </a:ln>
        </p:spPr>
      </p:sp>
      <p:sp>
        <p:nvSpPr>
          <p:cNvPr id="10" name="Text 8"/>
          <p:cNvSpPr/>
          <p:nvPr/>
        </p:nvSpPr>
        <p:spPr>
          <a:xfrm>
            <a:off x="7315200" y="2230438"/>
            <a:ext cx="418592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5253A"/>
                </a:solidFill>
                <a:latin typeface="Source Serif 4" pitchFamily="18" charset="0"/>
                <a:ea typeface="Source Serif 4" pitchFamily="18" charset="-122"/>
                <a:cs typeface="Source Serif 4" pitchFamily="18" charset="-120"/>
              </a:rPr>
              <a:t>86.7%</a:t>
            </a:r>
            <a:endParaRPr lang="en-US" sz="3600" dirty="0"/>
          </a:p>
        </p:txBody>
      </p:sp>
      <p:sp>
        <p:nvSpPr>
          <p:cNvPr id="11" name="Text 9"/>
          <p:cNvSpPr/>
          <p:nvPr/>
        </p:nvSpPr>
        <p:spPr>
          <a:xfrm>
            <a:off x="7315200" y="2895918"/>
            <a:ext cx="41859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Expert inspectors</a:t>
            </a:r>
            <a:endParaRPr lang="en-US" sz="1300" dirty="0"/>
          </a:p>
        </p:txBody>
      </p:sp>
      <p:sp>
        <p:nvSpPr>
          <p:cNvPr id="12" name="Shape 10"/>
          <p:cNvSpPr/>
          <p:nvPr/>
        </p:nvSpPr>
        <p:spPr>
          <a:xfrm>
            <a:off x="7315200" y="4433888"/>
            <a:ext cx="4064000" cy="0"/>
          </a:xfrm>
          <a:prstGeom prst="line">
            <a:avLst/>
          </a:prstGeom>
          <a:noFill/>
          <a:ln w="6350">
            <a:solidFill>
              <a:srgbClr val="DDD6C8"/>
            </a:solidFill>
            <a:prstDash val="solid"/>
          </a:ln>
        </p:spPr>
      </p:sp>
      <p:sp>
        <p:nvSpPr>
          <p:cNvPr id="13" name="Text 11"/>
          <p:cNvSpPr/>
          <p:nvPr/>
        </p:nvSpPr>
        <p:spPr>
          <a:xfrm>
            <a:off x="7315200" y="3409950"/>
            <a:ext cx="418592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5253A"/>
                </a:solidFill>
                <a:latin typeface="Source Serif 4" pitchFamily="18" charset="0"/>
                <a:ea typeface="Source Serif 4" pitchFamily="18" charset="-122"/>
                <a:cs typeface="Source Serif 4" pitchFamily="18" charset="-120"/>
              </a:rPr>
              <a:t>74.9%</a:t>
            </a:r>
            <a:endParaRPr lang="en-US" sz="3600" dirty="0"/>
          </a:p>
        </p:txBody>
      </p:sp>
      <p:sp>
        <p:nvSpPr>
          <p:cNvPr id="14" name="Text 12"/>
          <p:cNvSpPr/>
          <p:nvPr/>
        </p:nvSpPr>
        <p:spPr>
          <a:xfrm>
            <a:off x="7315200" y="4075430"/>
            <a:ext cx="41859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GPT-4o</a:t>
            </a:r>
            <a:endParaRPr lang="en-US" sz="1300" dirty="0"/>
          </a:p>
        </p:txBody>
      </p:sp>
      <p:sp>
        <p:nvSpPr>
          <p:cNvPr id="15" name="Text 13"/>
          <p:cNvSpPr/>
          <p:nvPr/>
        </p:nvSpPr>
        <p:spPr>
          <a:xfrm>
            <a:off x="7315200" y="4589463"/>
            <a:ext cx="418592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A17"/>
                </a:solidFill>
                <a:latin typeface="Source Serif 4" pitchFamily="18" charset="0"/>
                <a:ea typeface="Source Serif 4" pitchFamily="18" charset="-122"/>
                <a:cs typeface="Source Serif 4" pitchFamily="18" charset="-120"/>
              </a:rPr>
              <a:t>73.9%</a:t>
            </a:r>
            <a:endParaRPr lang="en-US" sz="3600" dirty="0"/>
          </a:p>
        </p:txBody>
      </p:sp>
      <p:sp>
        <p:nvSpPr>
          <p:cNvPr id="16" name="Text 14"/>
          <p:cNvSpPr/>
          <p:nvPr/>
        </p:nvSpPr>
        <p:spPr>
          <a:xfrm>
            <a:off x="7315200" y="5254943"/>
            <a:ext cx="41859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Qwen3-VL-8B, open: our baseline</a:t>
            </a:r>
            <a:endParaRPr lang="en-US" sz="13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Mean MMAD accuracy, 1-shot protocol. Source: Jiang et al., ICLR 2025; official MMAD leaderboard (Oct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METHODOLOGY</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Four agents, one orchestrated workflow</a:t>
            </a:r>
            <a:endParaRPr lang="en-US" sz="3200" dirty="0"/>
          </a:p>
        </p:txBody>
      </p:sp>
      <p:sp>
        <p:nvSpPr>
          <p:cNvPr id="4" name="Text 2"/>
          <p:cNvSpPr/>
          <p:nvPr/>
        </p:nvSpPr>
        <p:spPr>
          <a:xfrm>
            <a:off x="812800" y="18745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8"/>
                </a:solidFill>
                <a:latin typeface="IBM Plex Sans" pitchFamily="34" charset="0"/>
                <a:ea typeface="IBM Plex Sans" pitchFamily="34" charset="-122"/>
                <a:cs typeface="IBM Plex Sans" pitchFamily="34" charset="-120"/>
              </a:rPr>
              <a:t>Fixed workflow in Python, no model training. Each agent has one role and exchanges schema-validated JSON messages.</a:t>
            </a:r>
            <a:endParaRPr lang="en-US" sz="1400" dirty="0"/>
          </a:p>
        </p:txBody>
      </p:sp>
      <p:sp>
        <p:nvSpPr>
          <p:cNvPr id="5" name="Shape 3"/>
          <p:cNvSpPr/>
          <p:nvPr/>
        </p:nvSpPr>
        <p:spPr>
          <a:xfrm>
            <a:off x="819150" y="2555875"/>
            <a:ext cx="2220277" cy="1824355"/>
          </a:xfrm>
          <a:prstGeom prst="roundRect">
            <a:avLst>
              <a:gd name="adj" fmla="val 5221"/>
            </a:avLst>
          </a:prstGeom>
          <a:solidFill>
            <a:srgbClr val="FBEBDD"/>
          </a:solidFill>
          <a:ln w="12700">
            <a:solidFill>
              <a:srgbClr val="B04A17"/>
            </a:solidFill>
            <a:prstDash val="solid"/>
          </a:ln>
        </p:spPr>
      </p:sp>
      <p:sp>
        <p:nvSpPr>
          <p:cNvPr id="6" name="Text 4"/>
          <p:cNvSpPr/>
          <p:nvPr/>
        </p:nvSpPr>
        <p:spPr>
          <a:xfrm>
            <a:off x="1001077" y="2737802"/>
            <a:ext cx="19121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Visual expert</a:t>
            </a:r>
            <a:endParaRPr lang="en-US" sz="1500" dirty="0"/>
          </a:p>
        </p:txBody>
      </p:sp>
      <p:sp>
        <p:nvSpPr>
          <p:cNvPr id="7" name="Text 5"/>
          <p:cNvSpPr/>
          <p:nvPr/>
        </p:nvSpPr>
        <p:spPr>
          <a:xfrm>
            <a:off x="1001077" y="3068002"/>
            <a:ext cx="1912115"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Frozen DINOv3. Compares patches of the part with the reference.</a:t>
            </a:r>
            <a:endParaRPr lang="en-US" sz="1200" dirty="0"/>
          </a:p>
        </p:txBody>
      </p:sp>
      <p:sp>
        <p:nvSpPr>
          <p:cNvPr id="8" name="Text 6"/>
          <p:cNvSpPr/>
          <p:nvPr/>
        </p:nvSpPr>
        <p:spPr>
          <a:xfrm>
            <a:off x="1001077" y="3786823"/>
            <a:ext cx="191211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5253A"/>
                </a:solidFill>
                <a:latin typeface="IBM Plex Sans" pitchFamily="34" charset="0"/>
                <a:ea typeface="IBM Plex Sans" pitchFamily="34" charset="-122"/>
                <a:cs typeface="IBM Plex Sans" pitchFamily="34" charset="-120"/>
              </a:rPr>
              <a:t>Output:</a:t>
            </a:r>
            <a:r>
              <a:rPr lang="en-US" sz="1200" dirty="0">
                <a:solidFill>
                  <a:srgbClr val="15253A"/>
                </a:solidFill>
                <a:latin typeface="IBM Plex Sans" pitchFamily="34" charset="0"/>
                <a:ea typeface="IBM Plex Sans" pitchFamily="34" charset="-122"/>
                <a:cs typeface="IBM Plex Sans" pitchFamily="34" charset="-120"/>
              </a:rPr>
              <a:t> map, region and score</a:t>
            </a:r>
            <a:endParaRPr lang="en-US" sz="1200" dirty="0"/>
          </a:p>
        </p:txBody>
      </p:sp>
      <p:pic>
        <p:nvPicPr>
          <p:cNvPr id="9" name="Image 0" descr="connector">    </p:cNvPr>
          <p:cNvPicPr>
            <a:picLocks noChangeAspect="1"/>
          </p:cNvPicPr>
          <p:nvPr/>
        </p:nvPicPr>
        <p:blipFill>
          <a:blip r:embed="rId1"/>
          <a:srcRect l="0" r="0" t="0" b="0"/>
          <a:stretch/>
        </p:blipFill>
        <p:spPr>
          <a:xfrm>
            <a:off x="3147377" y="3429952"/>
            <a:ext cx="304800" cy="76200"/>
          </a:xfrm>
          <a:prstGeom prst="rect">
            <a:avLst/>
          </a:prstGeom>
        </p:spPr>
      </p:pic>
      <p:sp>
        <p:nvSpPr>
          <p:cNvPr id="10" name="Shape 7"/>
          <p:cNvSpPr/>
          <p:nvPr/>
        </p:nvSpPr>
        <p:spPr>
          <a:xfrm>
            <a:off x="3556953" y="2431414"/>
            <a:ext cx="2263458" cy="2073275"/>
          </a:xfrm>
          <a:prstGeom prst="roundRect">
            <a:avLst>
              <a:gd name="adj" fmla="val 4747"/>
            </a:avLst>
          </a:prstGeom>
          <a:solidFill>
            <a:srgbClr val="FFFDF8"/>
          </a:solidFill>
          <a:ln w="6350">
            <a:solidFill>
              <a:srgbClr val="DDD6C8"/>
            </a:solidFill>
            <a:prstDash val="solid"/>
          </a:ln>
        </p:spPr>
      </p:sp>
      <p:sp>
        <p:nvSpPr>
          <p:cNvPr id="11" name="Text 8"/>
          <p:cNvSpPr/>
          <p:nvPr/>
        </p:nvSpPr>
        <p:spPr>
          <a:xfrm>
            <a:off x="3760470" y="2634932"/>
            <a:ext cx="19121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MLLM readers</a:t>
            </a:r>
            <a:endParaRPr lang="en-US" sz="1500" dirty="0"/>
          </a:p>
        </p:txBody>
      </p:sp>
      <p:sp>
        <p:nvSpPr>
          <p:cNvPr id="12" name="Text 9"/>
          <p:cNvSpPr/>
          <p:nvPr/>
        </p:nvSpPr>
        <p:spPr>
          <a:xfrm>
            <a:off x="3760470" y="2965132"/>
            <a:ext cx="1912115"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Qwen3-VL-8B and InternVL3-8B. They see the part, the reference and the evidence.</a:t>
            </a:r>
            <a:endParaRPr lang="en-US" sz="1200" dirty="0"/>
          </a:p>
        </p:txBody>
      </p:sp>
      <p:sp>
        <p:nvSpPr>
          <p:cNvPr id="13" name="Text 10"/>
          <p:cNvSpPr/>
          <p:nvPr/>
        </p:nvSpPr>
        <p:spPr>
          <a:xfrm>
            <a:off x="3760470" y="3889693"/>
            <a:ext cx="191211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5253A"/>
                </a:solidFill>
                <a:latin typeface="IBM Plex Sans" pitchFamily="34" charset="0"/>
                <a:ea typeface="IBM Plex Sans" pitchFamily="34" charset="-122"/>
                <a:cs typeface="IBM Plex Sans" pitchFamily="34" charset="-120"/>
              </a:rPr>
              <a:t>Output:</a:t>
            </a:r>
            <a:r>
              <a:rPr lang="en-US" sz="1200" dirty="0">
                <a:solidFill>
                  <a:srgbClr val="15253A"/>
                </a:solidFill>
                <a:latin typeface="IBM Plex Sans" pitchFamily="34" charset="0"/>
                <a:ea typeface="IBM Plex Sans" pitchFamily="34" charset="-122"/>
                <a:cs typeface="IBM Plex Sans" pitchFamily="34" charset="-120"/>
              </a:rPr>
              <a:t> answer and confidence</a:t>
            </a:r>
            <a:endParaRPr lang="en-US" sz="1200" dirty="0"/>
          </a:p>
        </p:txBody>
      </p:sp>
      <p:pic>
        <p:nvPicPr>
          <p:cNvPr id="14" name="Image 1" descr="connector">    </p:cNvPr>
          <p:cNvPicPr>
            <a:picLocks noChangeAspect="1"/>
          </p:cNvPicPr>
          <p:nvPr/>
        </p:nvPicPr>
        <p:blipFill>
          <a:blip r:embed="rId2"/>
          <a:srcRect l="0" r="0" t="0" b="0"/>
          <a:stretch/>
        </p:blipFill>
        <p:spPr>
          <a:xfrm>
            <a:off x="5925185" y="3429952"/>
            <a:ext cx="304800" cy="76200"/>
          </a:xfrm>
          <a:prstGeom prst="rect">
            <a:avLst/>
          </a:prstGeom>
        </p:spPr>
      </p:pic>
      <p:sp>
        <p:nvSpPr>
          <p:cNvPr id="15" name="Shape 11"/>
          <p:cNvSpPr/>
          <p:nvPr/>
        </p:nvSpPr>
        <p:spPr>
          <a:xfrm>
            <a:off x="6334760" y="2534286"/>
            <a:ext cx="2263458" cy="1867535"/>
          </a:xfrm>
          <a:prstGeom prst="roundRect">
            <a:avLst>
              <a:gd name="adj" fmla="val 5270"/>
            </a:avLst>
          </a:prstGeom>
          <a:solidFill>
            <a:srgbClr val="FFFDF8"/>
          </a:solidFill>
          <a:ln w="6350">
            <a:solidFill>
              <a:srgbClr val="DDD6C8"/>
            </a:solidFill>
            <a:prstDash val="solid"/>
          </a:ln>
        </p:spPr>
      </p:sp>
      <p:sp>
        <p:nvSpPr>
          <p:cNvPr id="16" name="Text 12"/>
          <p:cNvSpPr/>
          <p:nvPr/>
        </p:nvSpPr>
        <p:spPr>
          <a:xfrm>
            <a:off x="6538278" y="2737802"/>
            <a:ext cx="19121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Verifier</a:t>
            </a:r>
            <a:endParaRPr lang="en-US" sz="1500" dirty="0"/>
          </a:p>
        </p:txBody>
      </p:sp>
      <p:sp>
        <p:nvSpPr>
          <p:cNvPr id="17" name="Text 13"/>
          <p:cNvSpPr/>
          <p:nvPr/>
        </p:nvSpPr>
        <p:spPr>
          <a:xfrm>
            <a:off x="6538278" y="3068002"/>
            <a:ext cx="1912115"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Checks the schema and consistency across questions.</a:t>
            </a:r>
            <a:endParaRPr lang="en-US" sz="1200" dirty="0"/>
          </a:p>
        </p:txBody>
      </p:sp>
      <p:sp>
        <p:nvSpPr>
          <p:cNvPr id="18" name="Text 14"/>
          <p:cNvSpPr/>
          <p:nvPr/>
        </p:nvSpPr>
        <p:spPr>
          <a:xfrm>
            <a:off x="6538278" y="3786823"/>
            <a:ext cx="191211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5253A"/>
                </a:solidFill>
                <a:latin typeface="IBM Plex Sans" pitchFamily="34" charset="0"/>
                <a:ea typeface="IBM Plex Sans" pitchFamily="34" charset="-122"/>
                <a:cs typeface="IBM Plex Sans" pitchFamily="34" charset="-120"/>
              </a:rPr>
              <a:t>Conflict:</a:t>
            </a:r>
            <a:r>
              <a:rPr lang="en-US" sz="1200" dirty="0">
                <a:solidFill>
                  <a:srgbClr val="15253A"/>
                </a:solidFill>
                <a:latin typeface="IBM Plex Sans" pitchFamily="34" charset="0"/>
                <a:ea typeface="IBM Plex Sans" pitchFamily="34" charset="-122"/>
                <a:cs typeface="IBM Plex Sans" pitchFamily="34" charset="-120"/>
              </a:rPr>
              <a:t> reopens, at most once</a:t>
            </a:r>
            <a:endParaRPr lang="en-US" sz="1200" dirty="0"/>
          </a:p>
        </p:txBody>
      </p:sp>
      <p:pic>
        <p:nvPicPr>
          <p:cNvPr id="19" name="Image 2" descr="connector">    </p:cNvPr>
          <p:cNvPicPr>
            <a:picLocks noChangeAspect="1"/>
          </p:cNvPicPr>
          <p:nvPr/>
        </p:nvPicPr>
        <p:blipFill>
          <a:blip r:embed="rId3"/>
          <a:srcRect l="0" r="0" t="0" b="0"/>
          <a:stretch/>
        </p:blipFill>
        <p:spPr>
          <a:xfrm>
            <a:off x="8702993" y="3429952"/>
            <a:ext cx="304800" cy="76200"/>
          </a:xfrm>
          <a:prstGeom prst="rect">
            <a:avLst/>
          </a:prstGeom>
        </p:spPr>
      </p:pic>
      <p:sp>
        <p:nvSpPr>
          <p:cNvPr id="20" name="Shape 15"/>
          <p:cNvSpPr/>
          <p:nvPr/>
        </p:nvSpPr>
        <p:spPr>
          <a:xfrm>
            <a:off x="9112568" y="2740025"/>
            <a:ext cx="2263458" cy="1456055"/>
          </a:xfrm>
          <a:prstGeom prst="roundRect">
            <a:avLst>
              <a:gd name="adj" fmla="val 6760"/>
            </a:avLst>
          </a:prstGeom>
          <a:solidFill>
            <a:srgbClr val="FFFDF8"/>
          </a:solidFill>
          <a:ln w="6350">
            <a:solidFill>
              <a:srgbClr val="DDD6C8"/>
            </a:solidFill>
            <a:prstDash val="solid"/>
          </a:ln>
        </p:spPr>
      </p:sp>
      <p:sp>
        <p:nvSpPr>
          <p:cNvPr id="21" name="Text 16"/>
          <p:cNvSpPr/>
          <p:nvPr/>
        </p:nvSpPr>
        <p:spPr>
          <a:xfrm>
            <a:off x="9316085" y="2943543"/>
            <a:ext cx="19121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Aggregator</a:t>
            </a:r>
            <a:endParaRPr lang="en-US" sz="1500" dirty="0"/>
          </a:p>
        </p:txBody>
      </p:sp>
      <p:sp>
        <p:nvSpPr>
          <p:cNvPr id="22" name="Text 17"/>
          <p:cNvSpPr/>
          <p:nvPr/>
        </p:nvSpPr>
        <p:spPr>
          <a:xfrm>
            <a:off x="9316085" y="3273743"/>
            <a:ext cx="191211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Weighted vote per subtask.</a:t>
            </a:r>
            <a:endParaRPr lang="en-US" sz="1200" dirty="0"/>
          </a:p>
        </p:txBody>
      </p:sp>
      <p:sp>
        <p:nvSpPr>
          <p:cNvPr id="23" name="Text 18"/>
          <p:cNvSpPr/>
          <p:nvPr/>
        </p:nvSpPr>
        <p:spPr>
          <a:xfrm>
            <a:off x="9316085" y="3786823"/>
            <a:ext cx="1912115"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5253A"/>
                </a:solidFill>
                <a:latin typeface="IBM Plex Sans" pitchFamily="34" charset="0"/>
                <a:ea typeface="IBM Plex Sans" pitchFamily="34" charset="-122"/>
                <a:cs typeface="IBM Plex Sans" pitchFamily="34" charset="-120"/>
              </a:rPr>
              <a:t>Output:</a:t>
            </a:r>
            <a:r>
              <a:rPr lang="en-US" sz="1200" dirty="0">
                <a:solidFill>
                  <a:srgbClr val="15253A"/>
                </a:solidFill>
                <a:latin typeface="IBM Plex Sans" pitchFamily="34" charset="0"/>
                <a:ea typeface="IBM Plex Sans" pitchFamily="34" charset="-122"/>
                <a:cs typeface="IBM Plex Sans" pitchFamily="34" charset="-120"/>
              </a:rPr>
              <a:t> inspection report</a:t>
            </a:r>
            <a:endParaRPr lang="en-US" sz="1200" dirty="0"/>
          </a:p>
        </p:txBody>
      </p:sp>
      <p:sp>
        <p:nvSpPr>
          <p:cNvPr id="24" name="Text 19"/>
          <p:cNvSpPr/>
          <p:nvPr/>
        </p:nvSpPr>
        <p:spPr>
          <a:xfrm>
            <a:off x="812800" y="48126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53A"/>
                </a:solidFill>
                <a:latin typeface="IBM Plex Sans" pitchFamily="34" charset="0"/>
                <a:ea typeface="IBM Plex Sans" pitchFamily="34" charset="-122"/>
                <a:cs typeface="IBM Plex Sans" pitchFamily="34" charset="-120"/>
              </a:rPr>
              <a:t>Validation:</a:t>
            </a:r>
            <a:r>
              <a:rPr lang="en-US" sz="1400" dirty="0">
                <a:solidFill>
                  <a:srgbClr val="15253A"/>
                </a:solidFill>
                <a:latin typeface="IBM Plex Sans" pitchFamily="34" charset="0"/>
                <a:ea typeface="IBM Plex Sans" pitchFamily="34" charset="-122"/>
                <a:cs typeface="IBM Plex Sans" pitchFamily="34" charset="-120"/>
              </a:rPr>
              <a:t> compare with a single MLLM and with same-cost voting, plus ablations removing each agent.</a:t>
            </a:r>
            <a:endParaRPr lang="en-US" sz="1400" dirty="0"/>
          </a:p>
        </p:txBody>
      </p:sp>
      <p:sp>
        <p:nvSpPr>
          <p:cNvPr id="25"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Conceptual basis: Adimulam et al., arXiv 2601.13671 (orchestration); MMAD showed the MLLM does better when it knows where to look.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COMPUTE RESOURCES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Yes, we have hardware access</a:t>
            </a:r>
            <a:endParaRPr lang="en-US" sz="3200" dirty="0"/>
          </a:p>
        </p:txBody>
      </p:sp>
      <p:sp>
        <p:nvSpPr>
          <p:cNvPr id="4" name="Shape 2"/>
          <p:cNvSpPr/>
          <p:nvPr/>
        </p:nvSpPr>
        <p:spPr>
          <a:xfrm>
            <a:off x="815975" y="1877695"/>
            <a:ext cx="5124450" cy="3407410"/>
          </a:xfrm>
          <a:prstGeom prst="roundRect">
            <a:avLst>
              <a:gd name="adj" fmla="val 2889"/>
            </a:avLst>
          </a:prstGeom>
          <a:solidFill>
            <a:srgbClr val="FFFDF8"/>
          </a:solidFill>
          <a:ln w="6350">
            <a:solidFill>
              <a:srgbClr val="DDD6C8"/>
            </a:solidFill>
            <a:prstDash val="solid"/>
          </a:ln>
        </p:spPr>
      </p:sp>
      <p:sp>
        <p:nvSpPr>
          <p:cNvPr id="5" name="Text 3"/>
          <p:cNvSpPr/>
          <p:nvPr/>
        </p:nvSpPr>
        <p:spPr>
          <a:xfrm>
            <a:off x="1019493" y="2081212"/>
            <a:ext cx="48589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3"/>
                </a:solidFill>
                <a:latin typeface="IBM Plex Sans" pitchFamily="34" charset="0"/>
                <a:ea typeface="IBM Plex Sans" pitchFamily="34" charset="-122"/>
                <a:cs typeface="IBM Plex Sans" pitchFamily="34" charset="-120"/>
              </a:rPr>
              <a:t>LOCAL · DEVELOPMENT</a:t>
            </a:r>
            <a:endParaRPr lang="en-US" sz="1200" dirty="0"/>
          </a:p>
        </p:txBody>
      </p:sp>
      <p:sp>
        <p:nvSpPr>
          <p:cNvPr id="6" name="Text 4"/>
          <p:cNvSpPr/>
          <p:nvPr/>
        </p:nvSpPr>
        <p:spPr>
          <a:xfrm>
            <a:off x="1019493" y="2421573"/>
            <a:ext cx="4858938"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253A"/>
                </a:solidFill>
                <a:latin typeface="Source Serif 4" pitchFamily="18" charset="0"/>
                <a:ea typeface="Source Serif 4" pitchFamily="18" charset="-122"/>
                <a:cs typeface="Source Serif 4" pitchFamily="18" charset="-120"/>
              </a:rPr>
              <a:t>NVIDIA RTX 3060 Laptop</a:t>
            </a:r>
            <a:endParaRPr lang="en-US" sz="2200" dirty="0"/>
          </a:p>
        </p:txBody>
      </p:sp>
      <p:sp>
        <p:nvSpPr>
          <p:cNvPr id="7" name="Text 5"/>
          <p:cNvSpPr/>
          <p:nvPr/>
        </p:nvSpPr>
        <p:spPr>
          <a:xfrm>
            <a:off x="1019493" y="2869882"/>
            <a:ext cx="485893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8"/>
                </a:solidFill>
                <a:latin typeface="IBM Plex Sans" pitchFamily="34" charset="0"/>
                <a:ea typeface="IBM Plex Sans" pitchFamily="34" charset="-122"/>
                <a:cs typeface="IBM Plex Sans" pitchFamily="34" charset="-120"/>
              </a:rPr>
              <a:t>6 GB VRAM · Core i9-12900H · 32 GB RAM</a:t>
            </a:r>
            <a:endParaRPr lang="en-US" sz="1400" dirty="0"/>
          </a:p>
        </p:txBody>
      </p:sp>
      <p:sp>
        <p:nvSpPr>
          <p:cNvPr id="8" name="Text 6"/>
          <p:cNvSpPr/>
          <p:nvPr/>
        </p:nvSpPr>
        <p:spPr>
          <a:xfrm>
            <a:off x="1019493" y="3245802"/>
            <a:ext cx="48589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53A"/>
                </a:solidFill>
                <a:latin typeface="IBM Plex Sans" pitchFamily="34" charset="0"/>
                <a:ea typeface="IBM Plex Sans" pitchFamily="34" charset="-122"/>
                <a:cs typeface="IBM Plex Sans" pitchFamily="34" charset="-120"/>
              </a:rPr>
              <a:t>DINOv3 visual expert and debugging of the pipeline with Qwen3-VL-4B quantized to 4 bits.</a:t>
            </a:r>
            <a:endParaRPr lang="en-US" sz="1400" dirty="0"/>
          </a:p>
        </p:txBody>
      </p:sp>
      <p:sp>
        <p:nvSpPr>
          <p:cNvPr id="9" name="Shape 7"/>
          <p:cNvSpPr/>
          <p:nvPr/>
        </p:nvSpPr>
        <p:spPr>
          <a:xfrm>
            <a:off x="6251575" y="1877695"/>
            <a:ext cx="5124450" cy="3407410"/>
          </a:xfrm>
          <a:prstGeom prst="roundRect">
            <a:avLst>
              <a:gd name="adj" fmla="val 2889"/>
            </a:avLst>
          </a:prstGeom>
          <a:solidFill>
            <a:srgbClr val="FFFDF8"/>
          </a:solidFill>
          <a:ln w="6350">
            <a:solidFill>
              <a:srgbClr val="DDD6C8"/>
            </a:solidFill>
            <a:prstDash val="solid"/>
          </a:ln>
        </p:spPr>
      </p:sp>
      <p:sp>
        <p:nvSpPr>
          <p:cNvPr id="10" name="Text 8"/>
          <p:cNvSpPr/>
          <p:nvPr/>
        </p:nvSpPr>
        <p:spPr>
          <a:xfrm>
            <a:off x="6455092" y="2081212"/>
            <a:ext cx="48589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3"/>
                </a:solidFill>
                <a:latin typeface="IBM Plex Sans" pitchFamily="34" charset="0"/>
                <a:ea typeface="IBM Plex Sans" pitchFamily="34" charset="-122"/>
                <a:cs typeface="IBM Plex Sans" pitchFamily="34" charset="-120"/>
              </a:rPr>
              <a:t>CLOUD · EXPERIMENTS</a:t>
            </a:r>
            <a:endParaRPr lang="en-US" sz="1200" dirty="0"/>
          </a:p>
        </p:txBody>
      </p:sp>
      <p:sp>
        <p:nvSpPr>
          <p:cNvPr id="11" name="Text 9"/>
          <p:cNvSpPr/>
          <p:nvPr/>
        </p:nvSpPr>
        <p:spPr>
          <a:xfrm>
            <a:off x="6455092" y="2421573"/>
            <a:ext cx="4858938"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253A"/>
                </a:solidFill>
                <a:latin typeface="Source Serif 4" pitchFamily="18" charset="0"/>
                <a:ea typeface="Source Serif 4" pitchFamily="18" charset="-122"/>
                <a:cs typeface="Source Serif 4" pitchFamily="18" charset="-120"/>
              </a:rPr>
              <a:t>Google Colab Pro, 1 month</a:t>
            </a:r>
            <a:endParaRPr lang="en-US" sz="2200" dirty="0"/>
          </a:p>
        </p:txBody>
      </p:sp>
      <p:sp>
        <p:nvSpPr>
          <p:cNvPr id="12" name="Text 10"/>
          <p:cNvSpPr/>
          <p:nvPr/>
        </p:nvSpPr>
        <p:spPr>
          <a:xfrm>
            <a:off x="6455092" y="2869882"/>
            <a:ext cx="48589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8"/>
                </a:solidFill>
                <a:latin typeface="IBM Plex Sans" pitchFamily="34" charset="0"/>
                <a:ea typeface="IBM Plex Sans" pitchFamily="34" charset="-122"/>
                <a:cs typeface="IBM Plex Sans" pitchFamily="34" charset="-120"/>
              </a:rPr>
              <a:t>L4 or T4 GPUs (16 to 24 GB); no A100, to save compute units</a:t>
            </a:r>
            <a:endParaRPr lang="en-US" sz="1400" dirty="0"/>
          </a:p>
        </p:txBody>
      </p:sp>
      <p:sp>
        <p:nvSpPr>
          <p:cNvPr id="13" name="Text 11"/>
          <p:cNvSpPr/>
          <p:nvPr/>
        </p:nvSpPr>
        <p:spPr>
          <a:xfrm>
            <a:off x="6455092" y="3494723"/>
            <a:ext cx="48589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53A"/>
                </a:solidFill>
                <a:latin typeface="IBM Plex Sans" pitchFamily="34" charset="0"/>
                <a:ea typeface="IBM Plex Sans" pitchFamily="34" charset="-122"/>
                <a:cs typeface="IBM Plex Sans" pitchFamily="34" charset="-120"/>
              </a:rPr>
              <a:t>Qwen3-VL-8B and InternVL3-8B readers served with vLLM, baselines and final test, in November.</a:t>
            </a:r>
            <a:endParaRPr lang="en-US" sz="1400" dirty="0"/>
          </a:p>
        </p:txBody>
      </p:sp>
      <p:sp>
        <p:nvSpPr>
          <p:cNvPr id="14" name="Text 12"/>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8"/>
                </a:solidFill>
                <a:latin typeface="IBM Plex Sans" pitchFamily="34" charset="0"/>
                <a:ea typeface="IBM Plex Sans" pitchFamily="34" charset="-122"/>
                <a:cs typeface="IBM Plex Sans" pitchFamily="34" charset="-120"/>
              </a:rPr>
              <a:t>One team member has no GPU and works directly on Colab. Each agent's outputs are cached and shared via Google Drive.</a:t>
            </a:r>
            <a:endParaRPr lang="en-US" sz="1400" dirty="0"/>
          </a:p>
        </p:txBody>
      </p:sp>
      <p:sp>
        <p:nvSpPr>
          <p:cNvPr id="15"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Budget: we measure the cost on 50 questions before the test and reuse the readers' outputs across all baselines.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DATASETS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MMAD: 8,366 images and 39,670 questions</a:t>
            </a:r>
            <a:endParaRPr lang="en-US" sz="3200" dirty="0"/>
          </a:p>
        </p:txBody>
      </p:sp>
      <p:sp>
        <p:nvSpPr>
          <p:cNvPr id="4" name="Text 2"/>
          <p:cNvSpPr/>
          <p:nvPr/>
        </p:nvSpPr>
        <p:spPr>
          <a:xfrm>
            <a:off x="812800" y="1874521"/>
            <a:ext cx="62788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8"/>
                </a:solidFill>
                <a:latin typeface="IBM Plex Sans" pitchFamily="34" charset="0"/>
                <a:ea typeface="IBM Plex Sans" pitchFamily="34" charset="-122"/>
                <a:cs typeface="IBM Plex Sans" pitchFamily="34" charset="-120"/>
              </a:rPr>
              <a:t>Public benchmark (ICLR 2025) built on four industrial inspection datasets, with 38 product categories.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278" y="2509838"/>
          <a:ext cx="6085523" cy="1785938"/>
        </p:xfrm>
        <a:graphic>
          <a:graphicData uri="http://schemas.openxmlformats.org/drawingml/2006/table">
            <a:tbl>
              <a:tblPr/>
              <a:tblGrid>
                <a:gridCol w="1825657"/>
                <a:gridCol w="1095394"/>
                <a:gridCol w="1338815"/>
                <a:gridCol w="1825657"/>
              </a:tblGrid>
              <a:tr h="357188">
                <a:tc>
                  <a:txBody>
                    <a:bodyPr/>
                    <a:lstStyle/>
                    <a:p>
                      <a:pP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Defective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License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MVTec 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465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1,226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CC BY-NC-SA 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VisA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943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1,198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CC BY 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MVTec LOCO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573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993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CC BY-NC-SA 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GoodsAD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1,309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1,659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Research 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800" y="4422775"/>
            <a:ext cx="627888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A58"/>
                </a:solidFill>
                <a:latin typeface="IBM Plex Sans" pitchFamily="34" charset="0"/>
                <a:ea typeface="IBM Plex Sans" pitchFamily="34" charset="-122"/>
                <a:cs typeface="IBM Plex Sans" pitchFamily="34" charset="-120"/>
              </a:rPr>
              <a:t>Limitation:</a:t>
            </a:r>
            <a:r>
              <a:rPr lang="en-US" sz="1200" dirty="0">
                <a:solidFill>
                  <a:srgbClr val="3D4A58"/>
                </a:solidFill>
                <a:latin typeface="IBM Plex Sans" pitchFamily="34" charset="0"/>
                <a:ea typeface="IBM Plex Sans" pitchFamily="34" charset="-122"/>
                <a:cs typeface="IBM Plex Sans" pitchFamily="34" charset="-120"/>
              </a:rPr>
              <a:t> MMAD evaluates one view per part, i.e. what one camera sees. Optional multi-view extension: Real-IAD, with 5 angles per object.</a:t>
            </a:r>
            <a:endParaRPr lang="en-US" sz="1200" dirty="0"/>
          </a:p>
        </p:txBody>
      </p:sp>
      <p:sp>
        <p:nvSpPr>
          <p:cNvPr id="7" name="Shape 4"/>
          <p:cNvSpPr/>
          <p:nvPr/>
        </p:nvSpPr>
        <p:spPr>
          <a:xfrm>
            <a:off x="7318375" y="1877696"/>
            <a:ext cx="4057650" cy="1362075"/>
          </a:xfrm>
          <a:prstGeom prst="roundRect">
            <a:avLst>
              <a:gd name="adj" fmla="val 7226"/>
            </a:avLst>
          </a:prstGeom>
          <a:solidFill>
            <a:srgbClr val="FFFDF8"/>
          </a:solidFill>
          <a:ln w="6350">
            <a:solidFill>
              <a:srgbClr val="DDD6C8"/>
            </a:solidFill>
            <a:prstDash val="solid"/>
          </a:ln>
        </p:spPr>
      </p:sp>
      <p:sp>
        <p:nvSpPr>
          <p:cNvPr id="8" name="Text 5"/>
          <p:cNvSpPr/>
          <p:nvPr/>
        </p:nvSpPr>
        <p:spPr>
          <a:xfrm>
            <a:off x="7521893" y="2081212"/>
            <a:ext cx="37601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53A"/>
                </a:solidFill>
                <a:latin typeface="IBM Plex Sans" pitchFamily="34" charset="0"/>
                <a:ea typeface="IBM Plex Sans" pitchFamily="34" charset="-122"/>
                <a:cs typeface="IBM Plex Sans" pitchFamily="34" charset="-120"/>
              </a:rPr>
              <a:t>7 subtasks, multiple choice</a:t>
            </a:r>
            <a:endParaRPr lang="en-US" sz="1400" dirty="0"/>
          </a:p>
        </p:txBody>
      </p:sp>
      <p:sp>
        <p:nvSpPr>
          <p:cNvPr id="9" name="Text 6"/>
          <p:cNvSpPr/>
          <p:nvPr/>
        </p:nvSpPr>
        <p:spPr>
          <a:xfrm>
            <a:off x="7521893" y="2396173"/>
            <a:ext cx="376013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8"/>
                </a:solidFill>
                <a:latin typeface="IBM Plex Sans" pitchFamily="34" charset="0"/>
                <a:ea typeface="IBM Plex Sans" pitchFamily="34" charset="-122"/>
                <a:cs typeface="IBM Plex Sans" pitchFamily="34" charset="-120"/>
              </a:rPr>
              <a:t>Defect discrimination, classification, localization, description and analysis; object classification and analysis.</a:t>
            </a:r>
            <a:endParaRPr lang="en-US" sz="1200" dirty="0"/>
          </a:p>
        </p:txBody>
      </p:sp>
      <p:sp>
        <p:nvSpPr>
          <p:cNvPr id="10" name="Shape 7"/>
          <p:cNvSpPr/>
          <p:nvPr/>
        </p:nvSpPr>
        <p:spPr>
          <a:xfrm>
            <a:off x="7318375" y="3398521"/>
            <a:ext cx="4057650" cy="1148715"/>
          </a:xfrm>
          <a:prstGeom prst="roundRect">
            <a:avLst>
              <a:gd name="adj" fmla="val 8568"/>
            </a:avLst>
          </a:prstGeom>
          <a:solidFill>
            <a:srgbClr val="FFFDF8"/>
          </a:solidFill>
          <a:ln w="6350">
            <a:solidFill>
              <a:srgbClr val="DDD6C8"/>
            </a:solidFill>
            <a:prstDash val="solid"/>
          </a:ln>
        </p:spPr>
      </p:sp>
      <p:sp>
        <p:nvSpPr>
          <p:cNvPr id="11" name="Text 8"/>
          <p:cNvSpPr/>
          <p:nvPr/>
        </p:nvSpPr>
        <p:spPr>
          <a:xfrm>
            <a:off x="7521893" y="3602038"/>
            <a:ext cx="37601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53A"/>
                </a:solidFill>
                <a:latin typeface="IBM Plex Sans" pitchFamily="34" charset="0"/>
                <a:ea typeface="IBM Plex Sans" pitchFamily="34" charset="-122"/>
                <a:cs typeface="IBM Plex Sans" pitchFamily="34" charset="-120"/>
              </a:rPr>
              <a:t>Use: evaluation only</a:t>
            </a:r>
            <a:endParaRPr lang="en-US" sz="1400" dirty="0"/>
          </a:p>
        </p:txBody>
      </p:sp>
      <p:sp>
        <p:nvSpPr>
          <p:cNvPr id="12" name="Text 9"/>
          <p:cNvSpPr/>
          <p:nvPr/>
        </p:nvSpPr>
        <p:spPr>
          <a:xfrm>
            <a:off x="7521893" y="3916998"/>
            <a:ext cx="376013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8"/>
                </a:solidFill>
                <a:latin typeface="IBM Plex Sans" pitchFamily="34" charset="0"/>
                <a:ea typeface="IBM Plex Sans" pitchFamily="34" charset="-122"/>
                <a:cs typeface="IBM Plex Sans" pitchFamily="34" charset="-120"/>
              </a:rPr>
              <a:t>No model is trained. 10% for development; stratified test of ~2,000 images, expandable up to 90%.</a:t>
            </a:r>
            <a:endParaRPr lang="en-US" sz="1200" dirty="0"/>
          </a:p>
        </p:txBody>
      </p:sp>
      <p:sp>
        <p:nvSpPr>
          <p:cNvPr id="13" name="Text 1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Access: github.com/jam-cc/MMAD (questions and evaluation) · Hugging Face jiang-cc/MMAD (images). Corrected revision of Oct 22, 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METRICS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Official accuracy, inspection errors and cost</a:t>
            </a:r>
            <a:endParaRPr lang="en-US" sz="3200" dirty="0"/>
          </a:p>
        </p:txBody>
      </p:sp>
      <p:sp>
        <p:nvSpPr>
          <p:cNvPr id="4" name="Shape 2"/>
          <p:cNvSpPr/>
          <p:nvPr/>
        </p:nvSpPr>
        <p:spPr>
          <a:xfrm>
            <a:off x="815975" y="1877696"/>
            <a:ext cx="5175250" cy="1875790"/>
          </a:xfrm>
          <a:prstGeom prst="roundRect">
            <a:avLst>
              <a:gd name="adj" fmla="val 5247"/>
            </a:avLst>
          </a:prstGeom>
          <a:solidFill>
            <a:srgbClr val="FFFDF8"/>
          </a:solidFill>
          <a:ln w="6350">
            <a:solidFill>
              <a:srgbClr val="DDD6C8"/>
            </a:solidFill>
            <a:prstDash val="solid"/>
          </a:ln>
        </p:spPr>
      </p:sp>
      <p:sp>
        <p:nvSpPr>
          <p:cNvPr id="5" name="Text 3"/>
          <p:cNvSpPr/>
          <p:nvPr/>
        </p:nvSpPr>
        <p:spPr>
          <a:xfrm>
            <a:off x="1019493" y="2081212"/>
            <a:ext cx="49112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Accuracy</a:t>
            </a:r>
            <a:endParaRPr lang="en-US" sz="1600" dirty="0"/>
          </a:p>
        </p:txBody>
      </p:sp>
      <p:sp>
        <p:nvSpPr>
          <p:cNvPr id="6" name="Text 4"/>
          <p:cNvSpPr/>
          <p:nvPr/>
        </p:nvSpPr>
        <p:spPr>
          <a:xfrm>
            <a:off x="1019493" y="2426652"/>
            <a:ext cx="49112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Per subtask and mean of the seven (official MMAD metric), broken down by data source.</a:t>
            </a:r>
            <a:endParaRPr lang="en-US" sz="1300" dirty="0"/>
          </a:p>
        </p:txBody>
      </p:sp>
      <p:sp>
        <p:nvSpPr>
          <p:cNvPr id="7" name="Shape 5"/>
          <p:cNvSpPr/>
          <p:nvPr/>
        </p:nvSpPr>
        <p:spPr>
          <a:xfrm>
            <a:off x="6200775" y="1877696"/>
            <a:ext cx="5175250" cy="1875790"/>
          </a:xfrm>
          <a:prstGeom prst="roundRect">
            <a:avLst>
              <a:gd name="adj" fmla="val 5247"/>
            </a:avLst>
          </a:prstGeom>
          <a:solidFill>
            <a:srgbClr val="FFFDF8"/>
          </a:solidFill>
          <a:ln w="6350">
            <a:solidFill>
              <a:srgbClr val="DDD6C8"/>
            </a:solidFill>
            <a:prstDash val="solid"/>
          </a:ln>
        </p:spPr>
      </p:sp>
      <p:sp>
        <p:nvSpPr>
          <p:cNvPr id="8" name="Text 6"/>
          <p:cNvSpPr/>
          <p:nvPr/>
        </p:nvSpPr>
        <p:spPr>
          <a:xfrm>
            <a:off x="6404292" y="2081212"/>
            <a:ext cx="49112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Inspection errors</a:t>
            </a:r>
            <a:endParaRPr lang="en-US" sz="1600" dirty="0"/>
          </a:p>
        </p:txBody>
      </p:sp>
      <p:sp>
        <p:nvSpPr>
          <p:cNvPr id="9" name="Text 7"/>
          <p:cNvSpPr/>
          <p:nvPr/>
        </p:nvSpPr>
        <p:spPr>
          <a:xfrm>
            <a:off x="6404292" y="2426652"/>
            <a:ext cx="49112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Balanced accuracy, false positives (good parts rejected) and missed defects.</a:t>
            </a:r>
            <a:endParaRPr lang="en-US" sz="1300" dirty="0"/>
          </a:p>
        </p:txBody>
      </p:sp>
      <p:sp>
        <p:nvSpPr>
          <p:cNvPr id="10" name="Shape 8"/>
          <p:cNvSpPr/>
          <p:nvPr/>
        </p:nvSpPr>
        <p:spPr>
          <a:xfrm>
            <a:off x="815975" y="3963036"/>
            <a:ext cx="5175250" cy="1875790"/>
          </a:xfrm>
          <a:prstGeom prst="roundRect">
            <a:avLst>
              <a:gd name="adj" fmla="val 5247"/>
            </a:avLst>
          </a:prstGeom>
          <a:solidFill>
            <a:srgbClr val="FFFDF8"/>
          </a:solidFill>
          <a:ln w="6350">
            <a:solidFill>
              <a:srgbClr val="DDD6C8"/>
            </a:solidFill>
            <a:prstDash val="solid"/>
          </a:ln>
        </p:spPr>
      </p:sp>
      <p:sp>
        <p:nvSpPr>
          <p:cNvPr id="11" name="Text 9"/>
          <p:cNvSpPr/>
          <p:nvPr/>
        </p:nvSpPr>
        <p:spPr>
          <a:xfrm>
            <a:off x="1019493" y="4166552"/>
            <a:ext cx="49112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Significance</a:t>
            </a:r>
            <a:endParaRPr lang="en-US" sz="1600" dirty="0"/>
          </a:p>
        </p:txBody>
      </p:sp>
      <p:sp>
        <p:nvSpPr>
          <p:cNvPr id="12" name="Text 10"/>
          <p:cNvSpPr/>
          <p:nvPr/>
        </p:nvSpPr>
        <p:spPr>
          <a:xfrm>
            <a:off x="1019493" y="4511991"/>
            <a:ext cx="49112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McNemar test against each baseline and 95% bootstrap confidence intervals.</a:t>
            </a:r>
            <a:endParaRPr lang="en-US" sz="1300" dirty="0"/>
          </a:p>
        </p:txBody>
      </p:sp>
      <p:sp>
        <p:nvSpPr>
          <p:cNvPr id="13" name="Shape 11"/>
          <p:cNvSpPr/>
          <p:nvPr/>
        </p:nvSpPr>
        <p:spPr>
          <a:xfrm>
            <a:off x="6200775" y="3963036"/>
            <a:ext cx="5175250" cy="1875790"/>
          </a:xfrm>
          <a:prstGeom prst="roundRect">
            <a:avLst>
              <a:gd name="adj" fmla="val 5247"/>
            </a:avLst>
          </a:prstGeom>
          <a:solidFill>
            <a:srgbClr val="FFFDF8"/>
          </a:solidFill>
          <a:ln w="6350">
            <a:solidFill>
              <a:srgbClr val="DDD6C8"/>
            </a:solidFill>
            <a:prstDash val="solid"/>
          </a:ln>
        </p:spPr>
      </p:sp>
      <p:sp>
        <p:nvSpPr>
          <p:cNvPr id="14" name="Text 12"/>
          <p:cNvSpPr/>
          <p:nvPr/>
        </p:nvSpPr>
        <p:spPr>
          <a:xfrm>
            <a:off x="6404292" y="4166552"/>
            <a:ext cx="49112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Cost</a:t>
            </a:r>
            <a:endParaRPr lang="en-US" sz="1600" dirty="0"/>
          </a:p>
        </p:txBody>
      </p:sp>
      <p:sp>
        <p:nvSpPr>
          <p:cNvPr id="15" name="Text 13"/>
          <p:cNvSpPr/>
          <p:nvPr/>
        </p:nvSpPr>
        <p:spPr>
          <a:xfrm>
            <a:off x="6404292" y="4511991"/>
            <a:ext cx="49112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Model calls, tokens and seconds per image, against the accuracy gain.</a:t>
            </a:r>
            <a:endParaRPr lang="en-US" sz="13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Error analysis: 100 failures classified as perception, reasoning, orchestration (MAST taxonomy) or annotation error.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The goal is to beat 73.9% with significance</a:t>
            </a:r>
            <a:endParaRPr lang="en-US" sz="3200" dirty="0"/>
          </a:p>
        </p:txBody>
      </p:sp>
      <p:sp>
        <p:nvSpPr>
          <p:cNvPr id="4" name="Shape 2"/>
          <p:cNvSpPr/>
          <p:nvPr/>
        </p:nvSpPr>
        <p:spPr>
          <a:xfrm>
            <a:off x="815975" y="1877696"/>
            <a:ext cx="5124450" cy="1430655"/>
          </a:xfrm>
          <a:prstGeom prst="roundRect">
            <a:avLst>
              <a:gd name="adj" fmla="val 6880"/>
            </a:avLst>
          </a:prstGeom>
          <a:solidFill>
            <a:srgbClr val="FFFDF8"/>
          </a:solidFill>
          <a:ln w="6350">
            <a:solidFill>
              <a:srgbClr val="DDD6C8"/>
            </a:solidFill>
            <a:prstDash val="solid"/>
          </a:ln>
        </p:spPr>
      </p:sp>
      <p:sp>
        <p:nvSpPr>
          <p:cNvPr id="5" name="Text 3"/>
          <p:cNvSpPr/>
          <p:nvPr/>
        </p:nvSpPr>
        <p:spPr>
          <a:xfrm>
            <a:off x="1019493" y="2081212"/>
            <a:ext cx="48589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Preliminary · Delivery II (Nov 12)</a:t>
            </a:r>
            <a:endParaRPr lang="en-US" sz="1500" dirty="0"/>
          </a:p>
        </p:txBody>
      </p:sp>
      <p:sp>
        <p:nvSpPr>
          <p:cNvPr id="6" name="Text 4"/>
          <p:cNvSpPr/>
          <p:nvPr/>
        </p:nvSpPr>
        <p:spPr>
          <a:xfrm>
            <a:off x="1019493" y="2411413"/>
            <a:ext cx="485893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Qwen3-VL-8B, InternVL3-8B and Qwen3-VL-4B baselines (size effect) on the dev split, working visual expert, and throughput measured in questions per minute.</a:t>
            </a:r>
            <a:endParaRPr lang="en-US" sz="1300" dirty="0"/>
          </a:p>
        </p:txBody>
      </p:sp>
      <p:sp>
        <p:nvSpPr>
          <p:cNvPr id="7" name="Shape 5"/>
          <p:cNvSpPr/>
          <p:nvPr/>
        </p:nvSpPr>
        <p:spPr>
          <a:xfrm>
            <a:off x="815975" y="3467100"/>
            <a:ext cx="5124450" cy="1430655"/>
          </a:xfrm>
          <a:prstGeom prst="roundRect">
            <a:avLst>
              <a:gd name="adj" fmla="val 6880"/>
            </a:avLst>
          </a:prstGeom>
          <a:solidFill>
            <a:srgbClr val="FFFDF8"/>
          </a:solidFill>
          <a:ln w="6350">
            <a:solidFill>
              <a:srgbClr val="DDD6C8"/>
            </a:solidFill>
            <a:prstDash val="solid"/>
          </a:ln>
        </p:spPr>
      </p:sp>
      <p:sp>
        <p:nvSpPr>
          <p:cNvPr id="8" name="Text 6"/>
          <p:cNvSpPr/>
          <p:nvPr/>
        </p:nvSpPr>
        <p:spPr>
          <a:xfrm>
            <a:off x="1019493" y="3670616"/>
            <a:ext cx="48589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53A"/>
                </a:solidFill>
                <a:latin typeface="IBM Plex Sans" pitchFamily="34" charset="0"/>
                <a:ea typeface="IBM Plex Sans" pitchFamily="34" charset="-122"/>
                <a:cs typeface="IBM Plex Sans" pitchFamily="34" charset="-120"/>
              </a:rPr>
              <a:t>Expected final · Delivery III (Nov 26)</a:t>
            </a:r>
            <a:endParaRPr lang="en-US" sz="1500" dirty="0"/>
          </a:p>
        </p:txBody>
      </p:sp>
      <p:sp>
        <p:nvSpPr>
          <p:cNvPr id="9" name="Text 7"/>
          <p:cNvSpPr/>
          <p:nvPr/>
        </p:nvSpPr>
        <p:spPr>
          <a:xfrm>
            <a:off x="1019493" y="4000816"/>
            <a:ext cx="485893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8"/>
                </a:solidFill>
                <a:latin typeface="IBM Plex Sans" pitchFamily="34" charset="0"/>
                <a:ea typeface="IBM Plex Sans" pitchFamily="34" charset="-122"/>
                <a:cs typeface="IBM Plex Sans" pitchFamily="34" charset="-120"/>
              </a:rPr>
              <a:t>Full system above the best single model and same-cost voting, with the largest gain in discrimination and localization. A well-measured negative result is also valid.</a:t>
            </a:r>
            <a:endParaRPr lang="en-US" sz="1300" dirty="0"/>
          </a:p>
        </p:txBody>
      </p:sp>
      <p:sp>
        <p:nvSpPr>
          <p:cNvPr id="10" name="Text 8"/>
          <p:cNvSpPr/>
          <p:nvPr/>
        </p:nvSpPr>
        <p:spPr>
          <a:xfrm>
            <a:off x="6248400" y="1874521"/>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3"/>
                </a:solidFill>
                <a:latin typeface="IBM Plex Sans" pitchFamily="34" charset="0"/>
                <a:ea typeface="IBM Plex Sans" pitchFamily="34" charset="-122"/>
                <a:cs typeface="IBM Plex Sans" pitchFamily="34" charset="-120"/>
              </a:rPr>
              <a:t>Reference points on MMAD (mean accuracy)</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58878" y="2199956"/>
          <a:ext cx="5120323" cy="1785938"/>
        </p:xfrm>
        <a:graphic>
          <a:graphicData uri="http://schemas.openxmlformats.org/drawingml/2006/table">
            <a:tbl>
              <a:tblPr/>
              <a:tblGrid>
                <a:gridCol w="3481819"/>
                <a:gridCol w="1638503"/>
              </a:tblGrid>
              <a:tr h="357188">
                <a:tc>
                  <a:txBody>
                    <a:bodyPr/>
                    <a:lstStyle/>
                    <a:p>
                      <a:pP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System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AEABA3"/>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AEABA3"/>
                      </a:solidFill>
                      <a:prstDash val="solid"/>
                      <a:round/>
                      <a:headEnd type="none" w="med" len="med"/>
                      <a:tailEnd type="none" w="med" len="med"/>
                    </a:lnB>
                    <a:solidFill>
                      <a:srgbClr val="D9D5CC"/>
                    </a:solidFill>
                  </a:tcPr>
                </a:tc>
                <a:tc>
                  <a:txBody>
                    <a:bodyPr/>
                    <a:lstStyle/>
                    <a:p>
                      <a:pPr algn="r" indent="0" marL="0">
                        <a:lnSpc>
                          <a:spcPts val="1820"/>
                        </a:lnSpc>
                        <a:buNone/>
                      </a:pPr>
                      <a:r>
                        <a:rPr lang="en-US" sz="1300" b="1" dirty="0">
                          <a:solidFill>
                            <a:srgbClr val="15253A"/>
                          </a:solidFill>
                          <a:latin typeface="IBM Plex Sans" pitchFamily="34" charset="0"/>
                          <a:ea typeface="IBM Plex Sans" pitchFamily="34" charset="-122"/>
                          <a:cs typeface="IBM Plex Sans" pitchFamily="34" charset="-120"/>
                        </a:rPr>
                        <a:t>Accuracy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ABA3"/>
                      </a:solidFill>
                      <a:prstDash val="solid"/>
                      <a:round/>
                      <a:headEnd type="none" w="med" len="med"/>
                      <a:tailEnd type="none" w="med" len="med"/>
                    </a:lnL>
                    <a:lnR w="12700" cap="flat" cmpd="sng" algn="ctr">
                      <a:solidFill>
                        <a:srgbClr val="AEABA3"/>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AEABA3"/>
                      </a:solidFill>
                      <a:prstDash val="solid"/>
                      <a:round/>
                      <a:headEnd type="none" w="med" len="med"/>
                      <a:tailEnd type="none" w="med" len="med"/>
                    </a:lnB>
                    <a:solidFill>
                      <a:srgbClr val="D9D5CC"/>
                    </a:solidFill>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Human expert inspector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AEABA3"/>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86.65%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AEABA3"/>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SiGMA, multi-agent (different protocol)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85.2%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GPT-4o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74.92%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BBB8B0"/>
                      </a:solidFill>
                      <a:prstDash val="solid"/>
                      <a:round/>
                      <a:headEnd type="none" w="med" len="med"/>
                      <a:tailEnd type="none" w="med" len="med"/>
                    </a:lnB>
                  </a:tcPr>
                </a:tc>
              </a:tr>
              <a:tr h="357188">
                <a:tc>
                  <a:txBody>
                    <a:bodyPr/>
                    <a:lstStyle/>
                    <a:p>
                      <a:pP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Qwen3-VL-8B: baseline to beat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B0"/>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algn="r" indent="0" marL="0">
                        <a:lnSpc>
                          <a:spcPts val="1820"/>
                        </a:lnSpc>
                        <a:buNone/>
                      </a:pPr>
                      <a:r>
                        <a:rPr lang="en-US" sz="1300" dirty="0">
                          <a:solidFill>
                            <a:srgbClr val="15253A"/>
                          </a:solidFill>
                          <a:latin typeface="IBM Plex Sans" pitchFamily="34" charset="0"/>
                          <a:ea typeface="IBM Plex Sans" pitchFamily="34" charset="-122"/>
                          <a:cs typeface="IBM Plex Sans" pitchFamily="34" charset="-120"/>
                        </a:rPr>
                        <a:t>73.91%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r>
            </a:tbl>
          </a:graphicData>
        </a:graphic>
      </p:graphicFrame>
      <p:sp>
        <p:nvSpPr>
          <p:cNvPr id="12"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No results of our own yet: this is the first delivery. Sources: MMAD (ICLR 2025), official leaderboard, SiGMA (arXiv 2610.12310).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Theoretical basis and related work</a:t>
            </a:r>
            <a:endParaRPr lang="en-US" sz="3200" dirty="0"/>
          </a:p>
        </p:txBody>
      </p:sp>
      <p:sp>
        <p:nvSpPr>
          <p:cNvPr id="4" name="Text 2"/>
          <p:cNvSpPr/>
          <p:nvPr/>
        </p:nvSpPr>
        <p:spPr>
          <a:xfrm>
            <a:off x="812800" y="18745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Adimulam, Gupta and Kumar (2026). The Orchestration of Multi-Agent Systems. arXiv 2601.13671.</a:t>
            </a:r>
            <a:endParaRPr lang="en-US" sz="1200" dirty="0"/>
          </a:p>
        </p:txBody>
      </p:sp>
      <p:sp>
        <p:nvSpPr>
          <p:cNvPr id="5" name="Text 3"/>
          <p:cNvSpPr/>
          <p:nvPr/>
        </p:nvSpPr>
        <p:spPr>
          <a:xfrm>
            <a:off x="812800" y="24003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Guo et al. (2024). Large Language Model based Multi-Agents: A Survey. arXiv 2402.01680.</a:t>
            </a:r>
            <a:endParaRPr lang="en-US" sz="1200" dirty="0"/>
          </a:p>
        </p:txBody>
      </p:sp>
      <p:sp>
        <p:nvSpPr>
          <p:cNvPr id="6" name="Text 4"/>
          <p:cNvSpPr/>
          <p:nvPr/>
        </p:nvSpPr>
        <p:spPr>
          <a:xfrm>
            <a:off x="812800" y="2926079"/>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Anthropic (2024). Building effective agents.</a:t>
            </a:r>
            <a:endParaRPr lang="en-US" sz="1200" dirty="0"/>
          </a:p>
        </p:txBody>
      </p:sp>
      <p:sp>
        <p:nvSpPr>
          <p:cNvPr id="7" name="Text 5"/>
          <p:cNvSpPr/>
          <p:nvPr/>
        </p:nvSpPr>
        <p:spPr>
          <a:xfrm>
            <a:off x="812800" y="3246121"/>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Du et al. (ICML 2024). Multiagent Debate. arXiv 2305.14325.</a:t>
            </a:r>
            <a:endParaRPr lang="en-US" sz="1200" dirty="0"/>
          </a:p>
        </p:txBody>
      </p:sp>
      <p:sp>
        <p:nvSpPr>
          <p:cNvPr id="8" name="Text 6"/>
          <p:cNvSpPr/>
          <p:nvPr/>
        </p:nvSpPr>
        <p:spPr>
          <a:xfrm>
            <a:off x="812800" y="3566161"/>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Huang et al. AgentCoder. arXiv 2312.13010.</a:t>
            </a:r>
            <a:endParaRPr lang="en-US" sz="1200" dirty="0"/>
          </a:p>
        </p:txBody>
      </p:sp>
      <p:sp>
        <p:nvSpPr>
          <p:cNvPr id="9" name="Text 7"/>
          <p:cNvSpPr/>
          <p:nvPr/>
        </p:nvSpPr>
        <p:spPr>
          <a:xfrm>
            <a:off x="812800" y="38862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Cemri et al. (NeurIPS 2025). Why Do Multi-Agent LLM Systems Fail? arXiv 2503.13657.</a:t>
            </a:r>
            <a:endParaRPr lang="en-US" sz="1200" dirty="0"/>
          </a:p>
        </p:txBody>
      </p:sp>
      <p:sp>
        <p:nvSpPr>
          <p:cNvPr id="10" name="Text 8"/>
          <p:cNvSpPr/>
          <p:nvPr/>
        </p:nvSpPr>
        <p:spPr>
          <a:xfrm>
            <a:off x="6299200" y="18745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Jiang et al. (ICLR 2025). MMAD: benchmark of MLLMs for industrial anomaly detection. arXiv 2410.09453.</a:t>
            </a:r>
            <a:endParaRPr lang="en-US" sz="1200" dirty="0"/>
          </a:p>
        </p:txBody>
      </p:sp>
      <p:sp>
        <p:nvSpPr>
          <p:cNvPr id="11" name="Text 9"/>
          <p:cNvSpPr/>
          <p:nvPr/>
        </p:nvSpPr>
        <p:spPr>
          <a:xfrm>
            <a:off x="6299200" y="24003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Zhang et al. (2026). SiGMA: Is In-Domain Training Enough? arXiv 2610.12310.</a:t>
            </a:r>
            <a:endParaRPr lang="en-US" sz="1200" dirty="0"/>
          </a:p>
        </p:txBody>
      </p:sp>
      <p:sp>
        <p:nvSpPr>
          <p:cNvPr id="12" name="Text 10"/>
          <p:cNvSpPr/>
          <p:nvPr/>
        </p:nvSpPr>
        <p:spPr>
          <a:xfrm>
            <a:off x="6299200" y="29260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Chen et al. (2025). Echo: Can MLLMs be Guided to Improve IAD? arXiv 2501.15795.</a:t>
            </a:r>
            <a:endParaRPr lang="en-US" sz="1200" dirty="0"/>
          </a:p>
        </p:txBody>
      </p:sp>
      <p:sp>
        <p:nvSpPr>
          <p:cNvPr id="13" name="Text 11"/>
          <p:cNvSpPr/>
          <p:nvPr/>
        </p:nvSpPr>
        <p:spPr>
          <a:xfrm>
            <a:off x="6299200" y="3451861"/>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Jiang et al. (2026). AD-Copilot. arXiv 2603.13779.</a:t>
            </a:r>
            <a:endParaRPr lang="en-US" sz="1200" dirty="0"/>
          </a:p>
        </p:txBody>
      </p:sp>
      <p:sp>
        <p:nvSpPr>
          <p:cNvPr id="14" name="Text 12"/>
          <p:cNvSpPr/>
          <p:nvPr/>
        </p:nvSpPr>
        <p:spPr>
          <a:xfrm>
            <a:off x="6299200" y="37719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Bergmann et al. MVTec AD (CVPR 2019) and MVTec LOCO (IJCV 2022); Zou et al. VisA (ECCV 2022); Zhang et al. GoodsAD (2023).</a:t>
            </a:r>
            <a:endParaRPr lang="en-US" sz="1200" dirty="0"/>
          </a:p>
        </p:txBody>
      </p:sp>
      <p:sp>
        <p:nvSpPr>
          <p:cNvPr id="15" name="Text 13"/>
          <p:cNvSpPr/>
          <p:nvPr/>
        </p:nvSpPr>
        <p:spPr>
          <a:xfrm>
            <a:off x="6299200" y="42976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8"/>
                </a:solidFill>
                <a:latin typeface="IBM Plex Sans" pitchFamily="34" charset="0"/>
                <a:ea typeface="IBM Plex Sans" pitchFamily="34" charset="-122"/>
                <a:cs typeface="IBM Plex Sans" pitchFamily="34" charset="-120"/>
              </a:rPr>
              <a:t>Siméoni et al. (2025). DINOv3. arXiv 2508.10104 · Wang et al. (CVPR 2024). Real-IAD, multi-view. arXiv 2403.12580.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SCHEDULE</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53A"/>
                </a:solidFill>
                <a:latin typeface="Source Serif 4" pitchFamily="18" charset="0"/>
                <a:ea typeface="Source Serif 4" pitchFamily="18" charset="-122"/>
                <a:cs typeface="Source Serif 4" pitchFamily="18" charset="-120"/>
              </a:rPr>
              <a:t>Activities before each delivery</a:t>
            </a:r>
            <a:endParaRPr lang="en-US" sz="3200" dirty="0"/>
          </a:p>
        </p:txBody>
      </p:sp>
      <p:sp>
        <p:nvSpPr>
          <p:cNvPr id="4" name="Shape 2"/>
          <p:cNvSpPr/>
          <p:nvPr/>
        </p:nvSpPr>
        <p:spPr>
          <a:xfrm>
            <a:off x="815975" y="1877696"/>
            <a:ext cx="3375660" cy="3961130"/>
          </a:xfrm>
          <a:prstGeom prst="roundRect">
            <a:avLst>
              <a:gd name="adj" fmla="val 2916"/>
            </a:avLst>
          </a:prstGeom>
          <a:solidFill>
            <a:srgbClr val="FFFDF8"/>
          </a:solidFill>
          <a:ln w="6350">
            <a:solidFill>
              <a:srgbClr val="DDD6C8"/>
            </a:solidFill>
            <a:prstDash val="solid"/>
          </a:ln>
        </p:spPr>
      </p:sp>
      <p:sp>
        <p:nvSpPr>
          <p:cNvPr id="5" name="Text 3"/>
          <p:cNvSpPr/>
          <p:nvPr/>
        </p:nvSpPr>
        <p:spPr>
          <a:xfrm>
            <a:off x="1019493" y="2081212"/>
            <a:ext cx="30576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3"/>
                </a:solidFill>
                <a:latin typeface="IBM Plex Sans" pitchFamily="34" charset="0"/>
                <a:ea typeface="IBM Plex Sans" pitchFamily="34" charset="-122"/>
                <a:cs typeface="IBM Plex Sans" pitchFamily="34" charset="-120"/>
              </a:rPr>
              <a:t>OCTOBER 29</a:t>
            </a:r>
            <a:endParaRPr lang="en-US" sz="1200" dirty="0"/>
          </a:p>
        </p:txBody>
      </p:sp>
      <p:sp>
        <p:nvSpPr>
          <p:cNvPr id="6" name="Text 4"/>
          <p:cNvSpPr/>
          <p:nvPr/>
        </p:nvSpPr>
        <p:spPr>
          <a:xfrm>
            <a:off x="1019493" y="2396170"/>
            <a:ext cx="3057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Delivery I · Plan</a:t>
            </a:r>
            <a:endParaRPr lang="en-US" sz="1600" dirty="0"/>
          </a:p>
        </p:txBody>
      </p:sp>
      <p:sp>
        <p:nvSpPr>
          <p:cNvPr id="7" name="Text 5"/>
          <p:cNvSpPr/>
          <p:nvPr/>
        </p:nvSpPr>
        <p:spPr>
          <a:xfrm>
            <a:off x="1118299" y="2741613"/>
            <a:ext cx="2951258" cy="6426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State-of-the-art review</a:t>
            </a:r>
            <a:endParaRPr lang="en-US" sz="1200" dirty="0"/>
          </a:p>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Dataset and model selection</a:t>
            </a:r>
            <a:endParaRPr lang="en-US" sz="1200" dirty="0"/>
          </a:p>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Workflow and metrics definition</a:t>
            </a:r>
            <a:endParaRPr lang="en-US" sz="1200" dirty="0"/>
          </a:p>
        </p:txBody>
      </p:sp>
      <p:sp>
        <p:nvSpPr>
          <p:cNvPr id="8" name="Shape 6"/>
          <p:cNvSpPr/>
          <p:nvPr/>
        </p:nvSpPr>
        <p:spPr>
          <a:xfrm>
            <a:off x="4401185" y="1877696"/>
            <a:ext cx="3375660" cy="3961130"/>
          </a:xfrm>
          <a:prstGeom prst="roundRect">
            <a:avLst>
              <a:gd name="adj" fmla="val 2916"/>
            </a:avLst>
          </a:prstGeom>
          <a:solidFill>
            <a:srgbClr val="FFFDF8"/>
          </a:solidFill>
          <a:ln w="6350">
            <a:solidFill>
              <a:srgbClr val="DDD6C8"/>
            </a:solidFill>
            <a:prstDash val="solid"/>
          </a:ln>
        </p:spPr>
      </p:sp>
      <p:sp>
        <p:nvSpPr>
          <p:cNvPr id="9" name="Text 7"/>
          <p:cNvSpPr/>
          <p:nvPr/>
        </p:nvSpPr>
        <p:spPr>
          <a:xfrm>
            <a:off x="4604703" y="2081212"/>
            <a:ext cx="30576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3"/>
                </a:solidFill>
                <a:latin typeface="IBM Plex Sans" pitchFamily="34" charset="0"/>
                <a:ea typeface="IBM Plex Sans" pitchFamily="34" charset="-122"/>
                <a:cs typeface="IBM Plex Sans" pitchFamily="34" charset="-120"/>
              </a:rPr>
              <a:t>NOVEMBER 12</a:t>
            </a:r>
            <a:endParaRPr lang="en-US" sz="1200" dirty="0"/>
          </a:p>
        </p:txBody>
      </p:sp>
      <p:sp>
        <p:nvSpPr>
          <p:cNvPr id="10" name="Text 8"/>
          <p:cNvSpPr/>
          <p:nvPr/>
        </p:nvSpPr>
        <p:spPr>
          <a:xfrm>
            <a:off x="4604703" y="2396170"/>
            <a:ext cx="3057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Delivery II · Preliminary</a:t>
            </a:r>
            <a:endParaRPr lang="en-US" sz="1600" dirty="0"/>
          </a:p>
        </p:txBody>
      </p:sp>
      <p:sp>
        <p:nvSpPr>
          <p:cNvPr id="11" name="Text 9"/>
          <p:cNvSpPr/>
          <p:nvPr/>
        </p:nvSpPr>
        <p:spPr>
          <a:xfrm>
            <a:off x="4703509" y="2741613"/>
            <a:ext cx="2951258" cy="10541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MMAD download and evaluation harness</a:t>
            </a:r>
            <a:endParaRPr lang="en-US" sz="1200" dirty="0"/>
          </a:p>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Single-model baselines on the dev split</a:t>
            </a:r>
            <a:endParaRPr lang="en-US" sz="1200" dirty="0"/>
          </a:p>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DINO visual expert working</a:t>
            </a:r>
            <a:endParaRPr lang="en-US" sz="1200" dirty="0"/>
          </a:p>
          <a:p>
            <a:pPr algn="l" marL="155194" indent="-155194">
              <a:lnSpc>
                <a:spcPts val="1620"/>
              </a:lnSpc>
              <a:buSzPct val="100000"/>
              <a:buChar char="•"/>
            </a:pPr>
            <a:r>
              <a:rPr lang="en-US" sz="1200" dirty="0">
                <a:solidFill>
                  <a:srgbClr val="3D4A58"/>
                </a:solidFill>
                <a:latin typeface="IBM Plex Sans" pitchFamily="34" charset="0"/>
                <a:ea typeface="IBM Plex Sans" pitchFamily="34" charset="-122"/>
                <a:cs typeface="IBM Plex Sans" pitchFamily="34" charset="-120"/>
              </a:rPr>
              <a:t>Throughput measured on Colab</a:t>
            </a:r>
            <a:endParaRPr lang="en-US" sz="1200" dirty="0"/>
          </a:p>
        </p:txBody>
      </p:sp>
      <p:sp>
        <p:nvSpPr>
          <p:cNvPr id="12" name="Shape 10"/>
          <p:cNvSpPr/>
          <p:nvPr/>
        </p:nvSpPr>
        <p:spPr>
          <a:xfrm>
            <a:off x="7989570" y="1880871"/>
            <a:ext cx="3383280" cy="3954780"/>
          </a:xfrm>
          <a:prstGeom prst="roundRect">
            <a:avLst>
              <a:gd name="adj" fmla="val 2815"/>
            </a:avLst>
          </a:prstGeom>
          <a:solidFill>
            <a:srgbClr val="FBEBDD"/>
          </a:solidFill>
          <a:ln w="12700">
            <a:solidFill>
              <a:srgbClr val="B04A17"/>
            </a:solidFill>
            <a:prstDash val="solid"/>
          </a:ln>
        </p:spPr>
      </p:sp>
      <p:sp>
        <p:nvSpPr>
          <p:cNvPr id="13" name="Text 11"/>
          <p:cNvSpPr/>
          <p:nvPr/>
        </p:nvSpPr>
        <p:spPr>
          <a:xfrm>
            <a:off x="8196897" y="2088195"/>
            <a:ext cx="30576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7"/>
                </a:solidFill>
                <a:latin typeface="IBM Plex Sans" pitchFamily="34" charset="0"/>
                <a:ea typeface="IBM Plex Sans" pitchFamily="34" charset="-122"/>
                <a:cs typeface="IBM Plex Sans" pitchFamily="34" charset="-120"/>
              </a:rPr>
              <a:t>NOVEMBER 26</a:t>
            </a:r>
            <a:endParaRPr lang="en-US" sz="1200" dirty="0"/>
          </a:p>
        </p:txBody>
      </p:sp>
      <p:sp>
        <p:nvSpPr>
          <p:cNvPr id="14" name="Text 12"/>
          <p:cNvSpPr/>
          <p:nvPr/>
        </p:nvSpPr>
        <p:spPr>
          <a:xfrm>
            <a:off x="8196897" y="2403159"/>
            <a:ext cx="3057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53A"/>
                </a:solidFill>
                <a:latin typeface="IBM Plex Sans" pitchFamily="34" charset="0"/>
                <a:ea typeface="IBM Plex Sans" pitchFamily="34" charset="-122"/>
                <a:cs typeface="IBM Plex Sans" pitchFamily="34" charset="-120"/>
              </a:rPr>
              <a:t>Delivery III · Final</a:t>
            </a:r>
            <a:endParaRPr lang="en-US" sz="1600" dirty="0"/>
          </a:p>
        </p:txBody>
      </p:sp>
      <p:sp>
        <p:nvSpPr>
          <p:cNvPr id="15" name="Text 13"/>
          <p:cNvSpPr/>
          <p:nvPr/>
        </p:nvSpPr>
        <p:spPr>
          <a:xfrm>
            <a:off x="8295703" y="2748595"/>
            <a:ext cx="2951258" cy="8483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15253A"/>
                </a:solidFill>
                <a:latin typeface="IBM Plex Sans" pitchFamily="34" charset="0"/>
                <a:ea typeface="IBM Plex Sans" pitchFamily="34" charset="-122"/>
                <a:cs typeface="IBM Plex Sans" pitchFamily="34" charset="-120"/>
              </a:rPr>
              <a:t>Readers, verifier and aggregator</a:t>
            </a:r>
            <a:endParaRPr lang="en-US" sz="1200" dirty="0"/>
          </a:p>
          <a:p>
            <a:pPr algn="l" marL="155194" indent="-155194">
              <a:lnSpc>
                <a:spcPts val="1620"/>
              </a:lnSpc>
              <a:buSzPct val="100000"/>
              <a:buChar char="•"/>
            </a:pPr>
            <a:r>
              <a:rPr lang="en-US" sz="1200" dirty="0">
                <a:solidFill>
                  <a:srgbClr val="15253A"/>
                </a:solidFill>
                <a:latin typeface="IBM Plex Sans" pitchFamily="34" charset="0"/>
                <a:ea typeface="IBM Plex Sans" pitchFamily="34" charset="-122"/>
                <a:cs typeface="IBM Plex Sans" pitchFamily="34" charset="-120"/>
              </a:rPr>
              <a:t>Configuration frozen on Nov 19</a:t>
            </a:r>
            <a:endParaRPr lang="en-US" sz="1200" dirty="0"/>
          </a:p>
          <a:p>
            <a:pPr algn="l" marL="155194" indent="-155194">
              <a:lnSpc>
                <a:spcPts val="1620"/>
              </a:lnSpc>
              <a:buSzPct val="100000"/>
              <a:buChar char="•"/>
            </a:pPr>
            <a:r>
              <a:rPr lang="en-US" sz="1200" dirty="0">
                <a:solidFill>
                  <a:srgbClr val="15253A"/>
                </a:solidFill>
                <a:latin typeface="IBM Plex Sans" pitchFamily="34" charset="0"/>
                <a:ea typeface="IBM Plex Sans" pitchFamily="34" charset="-122"/>
                <a:cs typeface="IBM Plex Sans" pitchFamily="34" charset="-120"/>
              </a:rPr>
              <a:t>Test and ablations (Nov 19–23)</a:t>
            </a:r>
            <a:endParaRPr lang="en-US" sz="1200" dirty="0"/>
          </a:p>
          <a:p>
            <a:pPr algn="l" marL="155194" indent="-155194">
              <a:lnSpc>
                <a:spcPts val="1620"/>
              </a:lnSpc>
              <a:buSzPct val="100000"/>
              <a:buChar char="•"/>
            </a:pPr>
            <a:r>
              <a:rPr lang="en-US" sz="1200" dirty="0">
                <a:solidFill>
                  <a:srgbClr val="15253A"/>
                </a:solidFill>
                <a:latin typeface="IBM Plex Sans" pitchFamily="34" charset="0"/>
                <a:ea typeface="IBM Plex Sans" pitchFamily="34" charset="-122"/>
                <a:cs typeface="IBM Plex Sans" pitchFamily="34" charset="-120"/>
              </a:rPr>
              <a:t>Error analysis and report</a:t>
            </a:r>
            <a:endParaRPr lang="en-US" sz="12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3"/>
                </a:solidFill>
                <a:latin typeface="IBM Plex Sans" pitchFamily="34" charset="0"/>
                <a:ea typeface="IBM Plex Sans" pitchFamily="34" charset="-122"/>
                <a:cs typeface="IBM Plex Sans" pitchFamily="34" charset="-120"/>
              </a:rPr>
              <a:t>The test only runs after the configuration is frozen, so nothing is tuned by looking at the final result.</a:t>
            </a:r>
            <a:endParaRPr lang="en-US" sz="1200" dirty="0"/>
          </a:p>
        </p:txBody>
      </p:sp>
    </p:spTree>
  </p:cSld>
  <p:clrMapOvr>
    <a:masterClrMapping/>
  </p:clrMapOvr>
</p:sld>
</file>

<file path=ppt/theme/theme1.xml><?xml version="1.0" encoding="utf-8"?>
<a:theme xmlns:a="http://schemas.openxmlformats.org/drawingml/2006/main" name="IA025 – Final Project Plan (Delivery I)">
  <a:themeElements>
    <a:clrScheme name="IA025 – Final Project Plan (Delivery I)">
      <a:dk1>
        <a:srgbClr val="15253A"/>
      </a:dk1>
      <a:lt1>
        <a:srgbClr val="F6F4EF"/>
      </a:lt1>
      <a:dk2>
        <a:srgbClr val="4D5967"/>
      </a:dk2>
      <a:lt2>
        <a:srgbClr val="E0DFDD"/>
      </a:lt2>
      <a:accent1>
        <a:srgbClr val="B04A17"/>
      </a:accent1>
      <a:accent2>
        <a:srgbClr val="E8925C"/>
      </a:accent2>
      <a:accent3>
        <a:srgbClr val="3D4A58"/>
      </a:accent3>
      <a:accent4>
        <a:srgbClr val="5B6673"/>
      </a:accent4>
      <a:accent5>
        <a:srgbClr val="C9D3DD"/>
      </a:accent5>
      <a:accent6>
        <a:srgbClr val="9AA0A6"/>
      </a:accent6>
      <a:hlink>
        <a:srgbClr val="0563C1"/>
      </a:hlink>
      <a:folHlink>
        <a:srgbClr val="954F72"/>
      </a:folHlink>
    </a:clrScheme>
    <a:fontScheme name="IA025 – Final Project Plan (Delivery 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IA025 – Final Project Plan (Delivery I)</dc:title>
  <dc:subject/>
  <dc:creator/>
  <cp:lastModifiedBy/>
  <cp:revision>1</cp:revision>
  <dcterms:created xsi:type="dcterms:W3CDTF">2026-10-29T00:42:10Z</dcterms:created>
  <dcterms:modified xsi:type="dcterms:W3CDTF">2026-10-29T00:42:10Z</dcterms:modified>
</cp:coreProperties>
</file>